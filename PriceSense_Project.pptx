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4" r:id="rId6"/>
    <p:sldId id="282" r:id="rId7"/>
    <p:sldId id="279" r:id="rId8"/>
    <p:sldId id="258" r:id="rId9"/>
    <p:sldId id="261" r:id="rId10"/>
    <p:sldId id="286" r:id="rId11"/>
    <p:sldId id="287" r:id="rId12"/>
    <p:sldId id="288" r:id="rId13"/>
    <p:sldId id="285" r:id="rId14"/>
    <p:sldId id="268" r:id="rId15"/>
    <p:sldId id="277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19C50-0907-4F77-961A-76B964B9165A}" v="123" dt="2026-05-22T12:53:30.80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879" autoAdjust="0"/>
  </p:normalViewPr>
  <p:slideViewPr>
    <p:cSldViewPr showGuides="1">
      <p:cViewPr varScale="1">
        <p:scale>
          <a:sx n="78" d="100"/>
          <a:sy n="78" d="100"/>
        </p:scale>
        <p:origin x="869" y="67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FE77B6-A6D1-4510-884C-7B107419341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26314E-EDB3-4C03-B1B2-E23CE87F53BD}">
      <dgm:prSet phldrT="[Text]"/>
      <dgm:spPr/>
      <dgm:t>
        <a:bodyPr/>
        <a:lstStyle/>
        <a:p>
          <a:pPr>
            <a:buNone/>
          </a:pPr>
          <a:r>
            <a:rPr lang="en-IN" dirty="0"/>
            <a:t>Challenges</a:t>
          </a:r>
        </a:p>
      </dgm:t>
    </dgm:pt>
    <dgm:pt modelId="{25DD2C29-9387-4245-B512-C7A1935943C5}" type="parTrans" cxnId="{5D979411-E2DC-414C-B055-FC6752E685E8}">
      <dgm:prSet/>
      <dgm:spPr/>
      <dgm:t>
        <a:bodyPr/>
        <a:lstStyle/>
        <a:p>
          <a:endParaRPr lang="en-IN"/>
        </a:p>
      </dgm:t>
    </dgm:pt>
    <dgm:pt modelId="{8C47E831-18C7-4CE1-BACB-FB0C9CF5BA9D}" type="sibTrans" cxnId="{5D979411-E2DC-414C-B055-FC6752E685E8}">
      <dgm:prSet/>
      <dgm:spPr/>
      <dgm:t>
        <a:bodyPr/>
        <a:lstStyle/>
        <a:p>
          <a:endParaRPr lang="en-IN"/>
        </a:p>
      </dgm:t>
    </dgm:pt>
    <dgm:pt modelId="{AFB6F139-4643-4AEB-A5D3-30D52AC12470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ptos" panose="020B0004020202020204" pitchFamily="34" charset="0"/>
            </a:rPr>
            <a:t>Price sensitivity varies across customers</a:t>
          </a:r>
          <a:endParaRPr lang="en-IN" dirty="0">
            <a:latin typeface="Aptos" panose="020B0004020202020204" pitchFamily="34" charset="0"/>
          </a:endParaRPr>
        </a:p>
      </dgm:t>
    </dgm:pt>
    <dgm:pt modelId="{1D8CE847-28CC-469A-93A1-CEEC2FDA50F5}" type="parTrans" cxnId="{F74164C9-39EA-411B-9E5E-C893164A9708}">
      <dgm:prSet/>
      <dgm:spPr/>
      <dgm:t>
        <a:bodyPr/>
        <a:lstStyle/>
        <a:p>
          <a:endParaRPr lang="en-IN"/>
        </a:p>
      </dgm:t>
    </dgm:pt>
    <dgm:pt modelId="{C777F54B-D773-481B-868D-DF9088104F5A}" type="sibTrans" cxnId="{F74164C9-39EA-411B-9E5E-C893164A9708}">
      <dgm:prSet/>
      <dgm:spPr/>
      <dgm:t>
        <a:bodyPr/>
        <a:lstStyle/>
        <a:p>
          <a:endParaRPr lang="en-IN"/>
        </a:p>
      </dgm:t>
    </dgm:pt>
    <dgm:pt modelId="{0373947D-20A1-44D1-8A4C-29984C017DBC}">
      <dgm:prSet phldrT="[Text]" custT="1"/>
      <dgm:spPr/>
      <dgm:t>
        <a:bodyPr/>
        <a:lstStyle/>
        <a:p>
          <a:pPr>
            <a:buNone/>
          </a:pPr>
          <a:r>
            <a:rPr lang="en-IN" sz="1100" dirty="0">
              <a:latin typeface="Aptos" panose="020B0004020202020204" pitchFamily="34" charset="0"/>
            </a:rPr>
            <a:t>Regional purchasing behavior differs</a:t>
          </a:r>
        </a:p>
      </dgm:t>
    </dgm:pt>
    <dgm:pt modelId="{3009E8A6-202B-4AF1-A9F6-132D81126B41}" type="parTrans" cxnId="{9CF56CC7-9A4B-4B5F-874A-FCAE67CDF1C4}">
      <dgm:prSet/>
      <dgm:spPr/>
      <dgm:t>
        <a:bodyPr/>
        <a:lstStyle/>
        <a:p>
          <a:endParaRPr lang="en-IN"/>
        </a:p>
      </dgm:t>
    </dgm:pt>
    <dgm:pt modelId="{97B4F84A-6E1D-4C1D-94DF-9012757125C7}" type="sibTrans" cxnId="{9CF56CC7-9A4B-4B5F-874A-FCAE67CDF1C4}">
      <dgm:prSet/>
      <dgm:spPr/>
      <dgm:t>
        <a:bodyPr/>
        <a:lstStyle/>
        <a:p>
          <a:endParaRPr lang="en-IN"/>
        </a:p>
      </dgm:t>
    </dgm:pt>
    <dgm:pt modelId="{C70B1A70-5F10-4AB0-BAB7-7DD9A993D25E}">
      <dgm:prSet phldrT="[Text]" custT="1"/>
      <dgm:spPr/>
      <dgm:t>
        <a:bodyPr/>
        <a:lstStyle/>
        <a:p>
          <a:pPr>
            <a:buNone/>
          </a:pPr>
          <a:r>
            <a:rPr lang="en-US" sz="1100" dirty="0">
              <a:latin typeface="Aptos" panose="020B0004020202020204" pitchFamily="34" charset="0"/>
            </a:rPr>
            <a:t>Premium products may be underpriced</a:t>
          </a:r>
          <a:endParaRPr lang="en-IN" sz="1100" dirty="0">
            <a:latin typeface="Aptos" panose="020B0004020202020204" pitchFamily="34" charset="0"/>
          </a:endParaRPr>
        </a:p>
      </dgm:t>
    </dgm:pt>
    <dgm:pt modelId="{D1074046-E543-4EB7-8BAC-499472F5FF6C}" type="parTrans" cxnId="{5CB3BBFA-688C-4218-8A41-28B27CEA8B2C}">
      <dgm:prSet/>
      <dgm:spPr/>
      <dgm:t>
        <a:bodyPr/>
        <a:lstStyle/>
        <a:p>
          <a:endParaRPr lang="en-IN"/>
        </a:p>
      </dgm:t>
    </dgm:pt>
    <dgm:pt modelId="{1529361D-0656-4872-B208-14901C63F53A}" type="sibTrans" cxnId="{5CB3BBFA-688C-4218-8A41-28B27CEA8B2C}">
      <dgm:prSet/>
      <dgm:spPr/>
      <dgm:t>
        <a:bodyPr/>
        <a:lstStyle/>
        <a:p>
          <a:endParaRPr lang="en-IN"/>
        </a:p>
      </dgm:t>
    </dgm:pt>
    <dgm:pt modelId="{05FC6E9C-217E-4F60-ADB2-FE93531CF634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ptos" panose="020B0004020202020204" pitchFamily="34" charset="0"/>
            </a:rPr>
            <a:t>Low-performing products may be overpriced </a:t>
          </a:r>
          <a:endParaRPr lang="en-IN" dirty="0">
            <a:latin typeface="Aptos" panose="020B0004020202020204" pitchFamily="34" charset="0"/>
          </a:endParaRPr>
        </a:p>
      </dgm:t>
    </dgm:pt>
    <dgm:pt modelId="{E4CF43CF-592C-4B6C-893E-22B02C2590E8}" type="parTrans" cxnId="{2EFEE82D-9259-488C-86C3-450ADE3CEB8C}">
      <dgm:prSet/>
      <dgm:spPr/>
      <dgm:t>
        <a:bodyPr/>
        <a:lstStyle/>
        <a:p>
          <a:endParaRPr lang="en-IN"/>
        </a:p>
      </dgm:t>
    </dgm:pt>
    <dgm:pt modelId="{F0DD2B33-48B4-4CF7-A371-0EF879C76498}" type="sibTrans" cxnId="{2EFEE82D-9259-488C-86C3-450ADE3CEB8C}">
      <dgm:prSet/>
      <dgm:spPr/>
      <dgm:t>
        <a:bodyPr/>
        <a:lstStyle/>
        <a:p>
          <a:endParaRPr lang="en-IN"/>
        </a:p>
      </dgm:t>
    </dgm:pt>
    <dgm:pt modelId="{8A6E8587-8425-4B2D-AEB0-2D11B0D63A0F}" type="pres">
      <dgm:prSet presAssocID="{71FE77B6-A6D1-4510-884C-7B107419341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DAD0BC6-BDF7-4830-8130-97DD919F27C3}" type="pres">
      <dgm:prSet presAssocID="{8526314E-EDB3-4C03-B1B2-E23CE87F53BD}" presName="centerShape" presStyleLbl="node0" presStyleIdx="0" presStyleCnt="1"/>
      <dgm:spPr/>
    </dgm:pt>
    <dgm:pt modelId="{113A53D6-42C2-4401-9230-BEA3091C642E}" type="pres">
      <dgm:prSet presAssocID="{AFB6F139-4643-4AEB-A5D3-30D52AC12470}" presName="node" presStyleLbl="node1" presStyleIdx="0" presStyleCnt="4" custScaleX="132071">
        <dgm:presLayoutVars>
          <dgm:bulletEnabled val="1"/>
        </dgm:presLayoutVars>
      </dgm:prSet>
      <dgm:spPr/>
    </dgm:pt>
    <dgm:pt modelId="{6D73B8A8-2EB2-4F9B-8154-293D63A497E3}" type="pres">
      <dgm:prSet presAssocID="{AFB6F139-4643-4AEB-A5D3-30D52AC12470}" presName="dummy" presStyleCnt="0"/>
      <dgm:spPr/>
    </dgm:pt>
    <dgm:pt modelId="{7C1964F6-2DD0-4312-A3FD-3E9BA065136C}" type="pres">
      <dgm:prSet presAssocID="{C777F54B-D773-481B-868D-DF9088104F5A}" presName="sibTrans" presStyleLbl="sibTrans2D1" presStyleIdx="0" presStyleCnt="4"/>
      <dgm:spPr/>
    </dgm:pt>
    <dgm:pt modelId="{C16FDBE9-CBB2-403A-A911-973272CF2FFB}" type="pres">
      <dgm:prSet presAssocID="{0373947D-20A1-44D1-8A4C-29984C017DBC}" presName="node" presStyleLbl="node1" presStyleIdx="1" presStyleCnt="4" custScaleX="143833">
        <dgm:presLayoutVars>
          <dgm:bulletEnabled val="1"/>
        </dgm:presLayoutVars>
      </dgm:prSet>
      <dgm:spPr/>
    </dgm:pt>
    <dgm:pt modelId="{6A4379F9-3882-4311-9404-21E8B866281A}" type="pres">
      <dgm:prSet presAssocID="{0373947D-20A1-44D1-8A4C-29984C017DBC}" presName="dummy" presStyleCnt="0"/>
      <dgm:spPr/>
    </dgm:pt>
    <dgm:pt modelId="{2C5E331C-3EBF-4ED2-90C4-60C8A4446DA6}" type="pres">
      <dgm:prSet presAssocID="{97B4F84A-6E1D-4C1D-94DF-9012757125C7}" presName="sibTrans" presStyleLbl="sibTrans2D1" presStyleIdx="1" presStyleCnt="4"/>
      <dgm:spPr/>
    </dgm:pt>
    <dgm:pt modelId="{33B6752A-31D8-4B17-8C97-EA448D82EA4E}" type="pres">
      <dgm:prSet presAssocID="{C70B1A70-5F10-4AB0-BAB7-7DD9A993D25E}" presName="node" presStyleLbl="node1" presStyleIdx="2" presStyleCnt="4" custScaleX="137602">
        <dgm:presLayoutVars>
          <dgm:bulletEnabled val="1"/>
        </dgm:presLayoutVars>
      </dgm:prSet>
      <dgm:spPr/>
    </dgm:pt>
    <dgm:pt modelId="{DCE793B3-8975-4722-BF29-36671F3E3847}" type="pres">
      <dgm:prSet presAssocID="{C70B1A70-5F10-4AB0-BAB7-7DD9A993D25E}" presName="dummy" presStyleCnt="0"/>
      <dgm:spPr/>
    </dgm:pt>
    <dgm:pt modelId="{6DFD1E8A-573A-4EAB-A8FA-F27A2DC47FFF}" type="pres">
      <dgm:prSet presAssocID="{1529361D-0656-4872-B208-14901C63F53A}" presName="sibTrans" presStyleLbl="sibTrans2D1" presStyleIdx="2" presStyleCnt="4"/>
      <dgm:spPr/>
    </dgm:pt>
    <dgm:pt modelId="{4A815D16-B0CB-4072-AB2D-F1790AE7E525}" type="pres">
      <dgm:prSet presAssocID="{05FC6E9C-217E-4F60-ADB2-FE93531CF634}" presName="node" presStyleLbl="node1" presStyleIdx="3" presStyleCnt="4" custScaleX="133906">
        <dgm:presLayoutVars>
          <dgm:bulletEnabled val="1"/>
        </dgm:presLayoutVars>
      </dgm:prSet>
      <dgm:spPr/>
    </dgm:pt>
    <dgm:pt modelId="{22181A23-1399-4185-A683-443B9B4CEFCB}" type="pres">
      <dgm:prSet presAssocID="{05FC6E9C-217E-4F60-ADB2-FE93531CF634}" presName="dummy" presStyleCnt="0"/>
      <dgm:spPr/>
    </dgm:pt>
    <dgm:pt modelId="{1250E462-46CA-4985-A0B7-00A0B7B78216}" type="pres">
      <dgm:prSet presAssocID="{F0DD2B33-48B4-4CF7-A371-0EF879C76498}" presName="sibTrans" presStyleLbl="sibTrans2D1" presStyleIdx="3" presStyleCnt="4"/>
      <dgm:spPr/>
    </dgm:pt>
  </dgm:ptLst>
  <dgm:cxnLst>
    <dgm:cxn modelId="{5D979411-E2DC-414C-B055-FC6752E685E8}" srcId="{71FE77B6-A6D1-4510-884C-7B107419341F}" destId="{8526314E-EDB3-4C03-B1B2-E23CE87F53BD}" srcOrd="0" destOrd="0" parTransId="{25DD2C29-9387-4245-B512-C7A1935943C5}" sibTransId="{8C47E831-18C7-4CE1-BACB-FB0C9CF5BA9D}"/>
    <dgm:cxn modelId="{FCC53327-9CF7-4986-86B8-8675E5A222CC}" type="presOf" srcId="{8526314E-EDB3-4C03-B1B2-E23CE87F53BD}" destId="{DDAD0BC6-BDF7-4830-8130-97DD919F27C3}" srcOrd="0" destOrd="0" presId="urn:microsoft.com/office/officeart/2005/8/layout/radial6"/>
    <dgm:cxn modelId="{7604852D-6EF3-4A7B-8A12-413606555274}" type="presOf" srcId="{F0DD2B33-48B4-4CF7-A371-0EF879C76498}" destId="{1250E462-46CA-4985-A0B7-00A0B7B78216}" srcOrd="0" destOrd="0" presId="urn:microsoft.com/office/officeart/2005/8/layout/radial6"/>
    <dgm:cxn modelId="{2EFEE82D-9259-488C-86C3-450ADE3CEB8C}" srcId="{8526314E-EDB3-4C03-B1B2-E23CE87F53BD}" destId="{05FC6E9C-217E-4F60-ADB2-FE93531CF634}" srcOrd="3" destOrd="0" parTransId="{E4CF43CF-592C-4B6C-893E-22B02C2590E8}" sibTransId="{F0DD2B33-48B4-4CF7-A371-0EF879C76498}"/>
    <dgm:cxn modelId="{E6C0272F-8065-4393-83A8-307B5737A796}" type="presOf" srcId="{97B4F84A-6E1D-4C1D-94DF-9012757125C7}" destId="{2C5E331C-3EBF-4ED2-90C4-60C8A4446DA6}" srcOrd="0" destOrd="0" presId="urn:microsoft.com/office/officeart/2005/8/layout/radial6"/>
    <dgm:cxn modelId="{A0410231-7865-4F4A-A898-9F14CF39B068}" type="presOf" srcId="{71FE77B6-A6D1-4510-884C-7B107419341F}" destId="{8A6E8587-8425-4B2D-AEB0-2D11B0D63A0F}" srcOrd="0" destOrd="0" presId="urn:microsoft.com/office/officeart/2005/8/layout/radial6"/>
    <dgm:cxn modelId="{9238F039-31FC-4AFD-9839-56ED5AD91CC2}" type="presOf" srcId="{1529361D-0656-4872-B208-14901C63F53A}" destId="{6DFD1E8A-573A-4EAB-A8FA-F27A2DC47FFF}" srcOrd="0" destOrd="0" presId="urn:microsoft.com/office/officeart/2005/8/layout/radial6"/>
    <dgm:cxn modelId="{A64FB758-4564-44EB-AE9B-022845BC35AD}" type="presOf" srcId="{05FC6E9C-217E-4F60-ADB2-FE93531CF634}" destId="{4A815D16-B0CB-4072-AB2D-F1790AE7E525}" srcOrd="0" destOrd="0" presId="urn:microsoft.com/office/officeart/2005/8/layout/radial6"/>
    <dgm:cxn modelId="{7687217A-A449-43CA-8B54-AE50247AF0A5}" type="presOf" srcId="{AFB6F139-4643-4AEB-A5D3-30D52AC12470}" destId="{113A53D6-42C2-4401-9230-BEA3091C642E}" srcOrd="0" destOrd="0" presId="urn:microsoft.com/office/officeart/2005/8/layout/radial6"/>
    <dgm:cxn modelId="{A9F8B95A-68C7-4F0F-A311-7E6381DB62EF}" type="presOf" srcId="{0373947D-20A1-44D1-8A4C-29984C017DBC}" destId="{C16FDBE9-CBB2-403A-A911-973272CF2FFB}" srcOrd="0" destOrd="0" presId="urn:microsoft.com/office/officeart/2005/8/layout/radial6"/>
    <dgm:cxn modelId="{CEFB2DB2-A358-4880-B2B4-802A9C8EA8CD}" type="presOf" srcId="{C70B1A70-5F10-4AB0-BAB7-7DD9A993D25E}" destId="{33B6752A-31D8-4B17-8C97-EA448D82EA4E}" srcOrd="0" destOrd="0" presId="urn:microsoft.com/office/officeart/2005/8/layout/radial6"/>
    <dgm:cxn modelId="{9CF56CC7-9A4B-4B5F-874A-FCAE67CDF1C4}" srcId="{8526314E-EDB3-4C03-B1B2-E23CE87F53BD}" destId="{0373947D-20A1-44D1-8A4C-29984C017DBC}" srcOrd="1" destOrd="0" parTransId="{3009E8A6-202B-4AF1-A9F6-132D81126B41}" sibTransId="{97B4F84A-6E1D-4C1D-94DF-9012757125C7}"/>
    <dgm:cxn modelId="{F74164C9-39EA-411B-9E5E-C893164A9708}" srcId="{8526314E-EDB3-4C03-B1B2-E23CE87F53BD}" destId="{AFB6F139-4643-4AEB-A5D3-30D52AC12470}" srcOrd="0" destOrd="0" parTransId="{1D8CE847-28CC-469A-93A1-CEEC2FDA50F5}" sibTransId="{C777F54B-D773-481B-868D-DF9088104F5A}"/>
    <dgm:cxn modelId="{4228CAD2-6CE3-4B8A-A5EA-5A3A65DC67E3}" type="presOf" srcId="{C777F54B-D773-481B-868D-DF9088104F5A}" destId="{7C1964F6-2DD0-4312-A3FD-3E9BA065136C}" srcOrd="0" destOrd="0" presId="urn:microsoft.com/office/officeart/2005/8/layout/radial6"/>
    <dgm:cxn modelId="{5CB3BBFA-688C-4218-8A41-28B27CEA8B2C}" srcId="{8526314E-EDB3-4C03-B1B2-E23CE87F53BD}" destId="{C70B1A70-5F10-4AB0-BAB7-7DD9A993D25E}" srcOrd="2" destOrd="0" parTransId="{D1074046-E543-4EB7-8BAC-499472F5FF6C}" sibTransId="{1529361D-0656-4872-B208-14901C63F53A}"/>
    <dgm:cxn modelId="{C88AA518-56C3-4B17-9C6C-E5DADA8F8E09}" type="presParOf" srcId="{8A6E8587-8425-4B2D-AEB0-2D11B0D63A0F}" destId="{DDAD0BC6-BDF7-4830-8130-97DD919F27C3}" srcOrd="0" destOrd="0" presId="urn:microsoft.com/office/officeart/2005/8/layout/radial6"/>
    <dgm:cxn modelId="{430165CB-65C9-4149-972F-5AC684083EDF}" type="presParOf" srcId="{8A6E8587-8425-4B2D-AEB0-2D11B0D63A0F}" destId="{113A53D6-42C2-4401-9230-BEA3091C642E}" srcOrd="1" destOrd="0" presId="urn:microsoft.com/office/officeart/2005/8/layout/radial6"/>
    <dgm:cxn modelId="{6F30D271-BC98-4046-A33F-CD16EADD3143}" type="presParOf" srcId="{8A6E8587-8425-4B2D-AEB0-2D11B0D63A0F}" destId="{6D73B8A8-2EB2-4F9B-8154-293D63A497E3}" srcOrd="2" destOrd="0" presId="urn:microsoft.com/office/officeart/2005/8/layout/radial6"/>
    <dgm:cxn modelId="{26D95FF4-2F12-4A84-96B7-9E69D012BD50}" type="presParOf" srcId="{8A6E8587-8425-4B2D-AEB0-2D11B0D63A0F}" destId="{7C1964F6-2DD0-4312-A3FD-3E9BA065136C}" srcOrd="3" destOrd="0" presId="urn:microsoft.com/office/officeart/2005/8/layout/radial6"/>
    <dgm:cxn modelId="{9262478B-F5A8-4C29-BE38-8570C9A63B07}" type="presParOf" srcId="{8A6E8587-8425-4B2D-AEB0-2D11B0D63A0F}" destId="{C16FDBE9-CBB2-403A-A911-973272CF2FFB}" srcOrd="4" destOrd="0" presId="urn:microsoft.com/office/officeart/2005/8/layout/radial6"/>
    <dgm:cxn modelId="{275F1933-C59E-4802-82AD-340B1E113CEA}" type="presParOf" srcId="{8A6E8587-8425-4B2D-AEB0-2D11B0D63A0F}" destId="{6A4379F9-3882-4311-9404-21E8B866281A}" srcOrd="5" destOrd="0" presId="urn:microsoft.com/office/officeart/2005/8/layout/radial6"/>
    <dgm:cxn modelId="{82442D3A-753C-494B-BCFF-E2C2955B89AA}" type="presParOf" srcId="{8A6E8587-8425-4B2D-AEB0-2D11B0D63A0F}" destId="{2C5E331C-3EBF-4ED2-90C4-60C8A4446DA6}" srcOrd="6" destOrd="0" presId="urn:microsoft.com/office/officeart/2005/8/layout/radial6"/>
    <dgm:cxn modelId="{A818B023-9BA7-42CD-B1A7-983EFB954958}" type="presParOf" srcId="{8A6E8587-8425-4B2D-AEB0-2D11B0D63A0F}" destId="{33B6752A-31D8-4B17-8C97-EA448D82EA4E}" srcOrd="7" destOrd="0" presId="urn:microsoft.com/office/officeart/2005/8/layout/radial6"/>
    <dgm:cxn modelId="{831FEC45-9BF3-4254-92AF-967C22E932FF}" type="presParOf" srcId="{8A6E8587-8425-4B2D-AEB0-2D11B0D63A0F}" destId="{DCE793B3-8975-4722-BF29-36671F3E3847}" srcOrd="8" destOrd="0" presId="urn:microsoft.com/office/officeart/2005/8/layout/radial6"/>
    <dgm:cxn modelId="{2980A69D-60A6-44B7-B1E7-064AC4ED1BAE}" type="presParOf" srcId="{8A6E8587-8425-4B2D-AEB0-2D11B0D63A0F}" destId="{6DFD1E8A-573A-4EAB-A8FA-F27A2DC47FFF}" srcOrd="9" destOrd="0" presId="urn:microsoft.com/office/officeart/2005/8/layout/radial6"/>
    <dgm:cxn modelId="{A2C4113A-C847-4A09-AD7D-881344D7F77F}" type="presParOf" srcId="{8A6E8587-8425-4B2D-AEB0-2D11B0D63A0F}" destId="{4A815D16-B0CB-4072-AB2D-F1790AE7E525}" srcOrd="10" destOrd="0" presId="urn:microsoft.com/office/officeart/2005/8/layout/radial6"/>
    <dgm:cxn modelId="{5F5508CF-B787-4408-B5D5-89B6E41AAA8E}" type="presParOf" srcId="{8A6E8587-8425-4B2D-AEB0-2D11B0D63A0F}" destId="{22181A23-1399-4185-A683-443B9B4CEFCB}" srcOrd="11" destOrd="0" presId="urn:microsoft.com/office/officeart/2005/8/layout/radial6"/>
    <dgm:cxn modelId="{50FB6419-ADB2-40A0-BA7C-7ADD889ACF2C}" type="presParOf" srcId="{8A6E8587-8425-4B2D-AEB0-2D11B0D63A0F}" destId="{1250E462-46CA-4985-A0B7-00A0B7B78216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>
              <a:latin typeface="+mn-lt"/>
              <a:ea typeface="+mn-ea"/>
              <a:cs typeface="+mn-cs"/>
            </a:rPr>
            <a:t>Dynamic Pricing</a:t>
          </a:r>
          <a:endParaRPr lang="en-US" sz="1400" b="1" i="0" kern="1200" cap="none" spc="0" baseline="0" dirty="0">
            <a:latin typeface="+mn-lt"/>
            <a:ea typeface="+mn-ea"/>
            <a:cs typeface="+mn-cs"/>
          </a:endParaRP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IN" sz="1400" kern="1200"/>
            <a:t>Product Positioning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/>
            <a:t>Customize pricing according to regional sales behavior.</a:t>
          </a:r>
          <a:endParaRPr lang="en-US" sz="1200" b="0" dirty="0"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/>
            <a:t>Adjust prices based on customer demand patterns.</a:t>
          </a:r>
          <a:endParaRPr lang="en-US" sz="1200" b="0" dirty="0">
            <a:latin typeface="+mn-lt"/>
          </a:endParaRPr>
        </a:p>
      </dgm:t>
    </dgm:pt>
    <dgm:pt modelId="{FCC92BDD-6EA3-421D-9DA8-7D3A12D003B6}" type="parTrans" cxnId="{0FAFB83E-A1A5-471E-A38E-077062B919AA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0FAFB83E-A1A5-471E-A38E-077062B919AA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IN" sz="1400" kern="1200" dirty="0"/>
            <a:t>Geographic Optimization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gm:t>
    </dgm:pt>
    <dgm:pt modelId="{F47063EE-4B58-4EDE-A4F2-A4BD81B82F21}" type="parTrans" cxnId="{3EEDAF93-3209-4D8F-B8AD-11CE1698BB9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3EEDAF93-3209-4D8F-B8AD-11CE1698BB9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/>
            <a:t>Identify premium and high-performing product categories.</a:t>
          </a:r>
          <a:endParaRPr lang="en-US" sz="1200" b="0" dirty="0">
            <a:latin typeface="+mn-lt"/>
          </a:endParaRPr>
        </a:p>
      </dgm:t>
    </dgm:pt>
    <dgm:pt modelId="{FB2DEB6E-B29F-4E51-960A-23ECC62EBF38}" type="parTrans" cxnId="{1A69CA25-F2A1-44CB-A9CF-6966B77C386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1A69CA25-F2A1-44CB-A9CF-6966B77C386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 custLinFactNeighborX="65647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ScaleX="81789" custLinFactNeighborX="8021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 custLinFactX="314414" custLinFactNeighborX="400000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 custLinFactX="9543" custLinFactNeighborX="100000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25451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 custLinFactX="600000" custLinFactNeighborX="60570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 custLinFactX="15526" custLinFactNeighborX="100000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ScaleX="78587" custLinFactNeighborX="1231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 custLinFactX="600000" custLinFactNeighborX="673669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91DE491D-46E8-4F8A-84E7-0E47E14A7832}" type="presOf" srcId="{EFEB4D61-3A9C-4140-977F-3C3F5C9EE9D1}" destId="{96DDA0FE-83E2-423C-9F13-58A61EB68487}" srcOrd="0" destOrd="0" presId="urn:microsoft.com/office/officeart/2017/3/layout/DropPinTimeline"/>
    <dgm:cxn modelId="{B7DD1A21-BAAE-49D7-8BA0-A6E71339671E}" type="presOf" srcId="{FA8F44BD-C8C7-462C-9756-1EC498E86842}" destId="{2D6C7916-1130-46A8-833B-A6278CBD2192}" srcOrd="0" destOrd="0" presId="urn:microsoft.com/office/officeart/2017/3/layout/DropPinTimeline"/>
    <dgm:cxn modelId="{682B2321-0C53-4637-B719-86E099E21C36}" type="presOf" srcId="{58FF46FB-368D-4E9C-A650-0513B8879DA8}" destId="{8E3FB235-DF38-476B-9A0E-B1E583D50944}" srcOrd="0" destOrd="0" presId="urn:microsoft.com/office/officeart/2017/3/layout/DropPinTimeline"/>
    <dgm:cxn modelId="{1A69CA25-F2A1-44CB-A9CF-6966B77C3862}" srcId="{D05E1923-5021-40F7-B4EF-E582E23A699D}" destId="{579089A8-5362-4BA4-9163-D19228C1808F}" srcOrd="0" destOrd="0" parTransId="{FB2DEB6E-B29F-4E51-960A-23ECC62EBF38}" sibTransId="{1C5328B1-AC18-4CF7-A034-BB0592F4A2A1}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0FAFB83E-A1A5-471E-A38E-077062B919AA}" srcId="{58FF46FB-368D-4E9C-A650-0513B8879DA8}" destId="{9A875394-CA1E-4432-AEEB-9054FCFF5E0E}" srcOrd="0" destOrd="0" parTransId="{FCC92BDD-6EA3-421D-9DA8-7D3A12D003B6}" sibTransId="{0314452B-82A0-42F4-9551-DF00CFFC3580}"/>
    <dgm:cxn modelId="{407B6284-C5FD-4CDD-B3A5-74EF2C41CE95}" type="presOf" srcId="{D05E1923-5021-40F7-B4EF-E582E23A699D}" destId="{223C5207-4FA2-4A6C-8F43-20BD55767C99}" srcOrd="0" destOrd="0" presId="urn:microsoft.com/office/officeart/2017/3/layout/DropPinTimeline"/>
    <dgm:cxn modelId="{3EEDAF93-3209-4D8F-B8AD-11CE1698BB9E}" srcId="{05A24E01-5535-46B9-A9A1-A9A07E639A88}" destId="{FA8F44BD-C8C7-462C-9756-1EC498E86842}" srcOrd="2" destOrd="0" parTransId="{F47063EE-4B58-4EDE-A4F2-A4BD81B82F21}" sibTransId="{8C8A9736-03DA-4B1C-A590-10B4AD89452B}"/>
    <dgm:cxn modelId="{DE08819E-9A12-4128-9E63-A7EE6BED49EB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376A3BDD-9CFA-43A1-86D3-0608E53143EE}" type="presOf" srcId="{579089A8-5362-4BA4-9163-D19228C1808F}" destId="{B5F3F650-2E42-488A-AD4F-C4BD47D19A84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996ABA0E-748C-488A-851B-F37DC2846AA4}" type="presParOf" srcId="{6E9F3C9B-13CA-43A8-8836-0B2B41D07DEF}" destId="{E8AACCBB-6709-4071-B389-3BB226B3A586}" srcOrd="0" destOrd="0" presId="urn:microsoft.com/office/officeart/2017/3/layout/DropPinTimeline"/>
    <dgm:cxn modelId="{E9B46D61-28F2-4CBF-BE09-03934262985F}" type="presParOf" srcId="{6E9F3C9B-13CA-43A8-8836-0B2B41D07DEF}" destId="{E6F74CED-5217-4282-85F1-1C12DC84731C}" srcOrd="1" destOrd="0" presId="urn:microsoft.com/office/officeart/2017/3/layout/DropPinTimeline"/>
    <dgm:cxn modelId="{90C75FFE-1334-4043-AA57-8C0485208C5E}" type="presParOf" srcId="{E6F74CED-5217-4282-85F1-1C12DC84731C}" destId="{AC377099-4DAE-451C-ADE9-98036E2679B5}" srcOrd="0" destOrd="0" presId="urn:microsoft.com/office/officeart/2017/3/layout/DropPinTimeline"/>
    <dgm:cxn modelId="{98655449-AA0C-42F2-AA40-D4AAEC13347C}" type="presParOf" srcId="{AC377099-4DAE-451C-ADE9-98036E2679B5}" destId="{B6C94ECD-6415-4250-B4AD-F67BF5BECFB8}" srcOrd="0" destOrd="0" presId="urn:microsoft.com/office/officeart/2017/3/layout/DropPinTimeline"/>
    <dgm:cxn modelId="{0CE56150-756A-4FB2-931F-AC82CE908274}" type="presParOf" srcId="{AC377099-4DAE-451C-ADE9-98036E2679B5}" destId="{0E99BB09-1B86-4308-A570-3981E6DD3A06}" srcOrd="1" destOrd="0" presId="urn:microsoft.com/office/officeart/2017/3/layout/DropPinTimeline"/>
    <dgm:cxn modelId="{A0642015-A106-49B7-B389-240B8DF1050B}" type="presParOf" srcId="{0E99BB09-1B86-4308-A570-3981E6DD3A06}" destId="{0ED6E8D6-BD44-4400-BC14-1BC75CB979A3}" srcOrd="0" destOrd="0" presId="urn:microsoft.com/office/officeart/2017/3/layout/DropPinTimeline"/>
    <dgm:cxn modelId="{3431C9A6-F041-4B73-8660-184E78A22C06}" type="presParOf" srcId="{0E99BB09-1B86-4308-A570-3981E6DD3A06}" destId="{5B7FC7CF-F58D-48D5-8BCC-38D6EE87890B}" srcOrd="1" destOrd="0" presId="urn:microsoft.com/office/officeart/2017/3/layout/DropPinTimeline"/>
    <dgm:cxn modelId="{F408834B-85FD-4C2A-A2A9-2ECBF1BFCDAD}" type="presParOf" srcId="{AC377099-4DAE-451C-ADE9-98036E2679B5}" destId="{D2143A46-815A-49BF-9455-C0385022444F}" srcOrd="2" destOrd="0" presId="urn:microsoft.com/office/officeart/2017/3/layout/DropPinTimeline"/>
    <dgm:cxn modelId="{9A875D37-2D74-4A11-AF02-E08A588AEF7C}" type="presParOf" srcId="{AC377099-4DAE-451C-ADE9-98036E2679B5}" destId="{8E3FB235-DF38-476B-9A0E-B1E583D50944}" srcOrd="3" destOrd="0" presId="urn:microsoft.com/office/officeart/2017/3/layout/DropPinTimeline"/>
    <dgm:cxn modelId="{B86EFA27-EB0E-435A-8439-34A436E50A7C}" type="presParOf" srcId="{AC377099-4DAE-451C-ADE9-98036E2679B5}" destId="{9AA05CE5-209F-4AD9-BE2C-2A69F76DA8F4}" srcOrd="4" destOrd="0" presId="urn:microsoft.com/office/officeart/2017/3/layout/DropPinTimeline"/>
    <dgm:cxn modelId="{2FDA1F96-E846-434C-A3BB-6CC1E7FF9FF0}" type="presParOf" srcId="{AC377099-4DAE-451C-ADE9-98036E2679B5}" destId="{17350C28-DA10-4F3B-9FA2-0FE7C12A4ABE}" srcOrd="5" destOrd="0" presId="urn:microsoft.com/office/officeart/2017/3/layout/DropPinTimeline"/>
    <dgm:cxn modelId="{C5F6A8F1-EE2B-4F97-8696-3BD9790DA30C}" type="presParOf" srcId="{E6F74CED-5217-4282-85F1-1C12DC84731C}" destId="{6DA7B85E-9DC6-4F3B-A2BF-09CDEEDB43BC}" srcOrd="1" destOrd="0" presId="urn:microsoft.com/office/officeart/2017/3/layout/DropPinTimeline"/>
    <dgm:cxn modelId="{2D1F0500-96FC-44E1-9F3E-865E5AE7AE2F}" type="presParOf" srcId="{E6F74CED-5217-4282-85F1-1C12DC84731C}" destId="{CF519A69-9940-494F-8406-D0D876E3CD26}" srcOrd="2" destOrd="0" presId="urn:microsoft.com/office/officeart/2017/3/layout/DropPinTimeline"/>
    <dgm:cxn modelId="{E69C95C6-79F7-4E33-B8CA-E8A484D2C6B1}" type="presParOf" srcId="{CF519A69-9940-494F-8406-D0D876E3CD26}" destId="{714429FF-AAA3-4358-8C5F-1A7F29AA2B7B}" srcOrd="0" destOrd="0" presId="urn:microsoft.com/office/officeart/2017/3/layout/DropPinTimeline"/>
    <dgm:cxn modelId="{0A1FD7FC-A4A4-4306-A2D3-B403B973E753}" type="presParOf" srcId="{CF519A69-9940-494F-8406-D0D876E3CD26}" destId="{AB8B1E8E-162B-4E3E-9E31-BA5CFBD3ED9D}" srcOrd="1" destOrd="0" presId="urn:microsoft.com/office/officeart/2017/3/layout/DropPinTimeline"/>
    <dgm:cxn modelId="{8951D617-A56B-48B8-8118-AEC6ED5EDF65}" type="presParOf" srcId="{AB8B1E8E-162B-4E3E-9E31-BA5CFBD3ED9D}" destId="{358CAA11-0A87-4861-8B4E-913B1EAD1334}" srcOrd="0" destOrd="0" presId="urn:microsoft.com/office/officeart/2017/3/layout/DropPinTimeline"/>
    <dgm:cxn modelId="{434C2BA9-EE06-45A3-B51B-5237E59D8EE1}" type="presParOf" srcId="{AB8B1E8E-162B-4E3E-9E31-BA5CFBD3ED9D}" destId="{B1A1A837-F261-404B-A808-B2F4154CE8A2}" srcOrd="1" destOrd="0" presId="urn:microsoft.com/office/officeart/2017/3/layout/DropPinTimeline"/>
    <dgm:cxn modelId="{0CE1E5A7-33D4-49F1-B9B8-DF18B54DC1FE}" type="presParOf" srcId="{CF519A69-9940-494F-8406-D0D876E3CD26}" destId="{B5F3F650-2E42-488A-AD4F-C4BD47D19A84}" srcOrd="2" destOrd="0" presId="urn:microsoft.com/office/officeart/2017/3/layout/DropPinTimeline"/>
    <dgm:cxn modelId="{AE4F8327-776F-498D-BB68-5F343CF1A1B7}" type="presParOf" srcId="{CF519A69-9940-494F-8406-D0D876E3CD26}" destId="{223C5207-4FA2-4A6C-8F43-20BD55767C99}" srcOrd="3" destOrd="0" presId="urn:microsoft.com/office/officeart/2017/3/layout/DropPinTimeline"/>
    <dgm:cxn modelId="{EEEBC3CA-721D-4A2E-94E4-3CB4713FF218}" type="presParOf" srcId="{CF519A69-9940-494F-8406-D0D876E3CD26}" destId="{4FE5EB5D-4CEF-4D0D-9394-0534E61844BE}" srcOrd="4" destOrd="0" presId="urn:microsoft.com/office/officeart/2017/3/layout/DropPinTimeline"/>
    <dgm:cxn modelId="{C74E6948-919A-4FF2-BCD2-AA54F477900C}" type="presParOf" srcId="{CF519A69-9940-494F-8406-D0D876E3CD26}" destId="{EC869059-0AEC-4D98-8C46-CB603A342C72}" srcOrd="5" destOrd="0" presId="urn:microsoft.com/office/officeart/2017/3/layout/DropPinTimeline"/>
    <dgm:cxn modelId="{663A6AAE-DFB4-4B3E-A5F9-0A73FFD57C0D}" type="presParOf" srcId="{E6F74CED-5217-4282-85F1-1C12DC84731C}" destId="{408BA715-9739-461D-BFDE-88EDAE355E60}" srcOrd="3" destOrd="0" presId="urn:microsoft.com/office/officeart/2017/3/layout/DropPinTimeline"/>
    <dgm:cxn modelId="{F5D8285D-8F13-4CDD-B03D-8E191E4EFC93}" type="presParOf" srcId="{E6F74CED-5217-4282-85F1-1C12DC84731C}" destId="{D512C7F9-87A6-4BA9-AFAC-03FF1578D945}" srcOrd="4" destOrd="0" presId="urn:microsoft.com/office/officeart/2017/3/layout/DropPinTimeline"/>
    <dgm:cxn modelId="{2576D8EB-5787-4C72-9980-8E7391998AC5}" type="presParOf" srcId="{D512C7F9-87A6-4BA9-AFAC-03FF1578D945}" destId="{152AD014-AFD0-4700-A468-4D562874339A}" srcOrd="0" destOrd="0" presId="urn:microsoft.com/office/officeart/2017/3/layout/DropPinTimeline"/>
    <dgm:cxn modelId="{6C02FCC4-FE2D-45D2-B26C-811270A576BE}" type="presParOf" srcId="{D512C7F9-87A6-4BA9-AFAC-03FF1578D945}" destId="{6CE2C4D8-4380-442D-A6C2-0B468BF3C74C}" srcOrd="1" destOrd="0" presId="urn:microsoft.com/office/officeart/2017/3/layout/DropPinTimeline"/>
    <dgm:cxn modelId="{97E36A43-A72B-4927-9AE5-C1FF99145CF4}" type="presParOf" srcId="{6CE2C4D8-4380-442D-A6C2-0B468BF3C74C}" destId="{72C82E90-F103-439C-8371-CFFB0927B9DE}" srcOrd="0" destOrd="0" presId="urn:microsoft.com/office/officeart/2017/3/layout/DropPinTimeline"/>
    <dgm:cxn modelId="{7333E8B1-1B1A-4AC3-A433-1ABF3361A08E}" type="presParOf" srcId="{6CE2C4D8-4380-442D-A6C2-0B468BF3C74C}" destId="{5D519322-C1DD-47AE-92C0-13575134BC76}" srcOrd="1" destOrd="0" presId="urn:microsoft.com/office/officeart/2017/3/layout/DropPinTimeline"/>
    <dgm:cxn modelId="{CDC40E90-AA8C-4047-95CE-89CF0233B60C}" type="presParOf" srcId="{D512C7F9-87A6-4BA9-AFAC-03FF1578D945}" destId="{96DDA0FE-83E2-423C-9F13-58A61EB68487}" srcOrd="2" destOrd="0" presId="urn:microsoft.com/office/officeart/2017/3/layout/DropPinTimeline"/>
    <dgm:cxn modelId="{6A40BF94-71E3-49D7-8F3E-C3694BB9DA64}" type="presParOf" srcId="{D512C7F9-87A6-4BA9-AFAC-03FF1578D945}" destId="{2D6C7916-1130-46A8-833B-A6278CBD2192}" srcOrd="3" destOrd="0" presId="urn:microsoft.com/office/officeart/2017/3/layout/DropPinTimeline"/>
    <dgm:cxn modelId="{9E22DFFE-1AE9-497B-A4D0-1ECD6D5BA0A3}" type="presParOf" srcId="{D512C7F9-87A6-4BA9-AFAC-03FF1578D945}" destId="{4D953791-5C2F-4A75-A8F4-6ED7EAB5E015}" srcOrd="4" destOrd="0" presId="urn:microsoft.com/office/officeart/2017/3/layout/DropPinTimeline"/>
    <dgm:cxn modelId="{E79B7CB4-D3E0-456F-9253-4B4CA5F03D3F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0E462-46CA-4985-A0B7-00A0B7B78216}">
      <dsp:nvSpPr>
        <dsp:cNvPr id="0" name=""/>
        <dsp:cNvSpPr/>
      </dsp:nvSpPr>
      <dsp:spPr>
        <a:xfrm>
          <a:off x="796305" y="498863"/>
          <a:ext cx="3322752" cy="3322752"/>
        </a:xfrm>
        <a:prstGeom prst="blockArc">
          <a:avLst>
            <a:gd name="adj1" fmla="val 10800000"/>
            <a:gd name="adj2" fmla="val 16200000"/>
            <a:gd name="adj3" fmla="val 46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D1E8A-573A-4EAB-A8FA-F27A2DC47FFF}">
      <dsp:nvSpPr>
        <dsp:cNvPr id="0" name=""/>
        <dsp:cNvSpPr/>
      </dsp:nvSpPr>
      <dsp:spPr>
        <a:xfrm>
          <a:off x="796305" y="498863"/>
          <a:ext cx="3322752" cy="3322752"/>
        </a:xfrm>
        <a:prstGeom prst="blockArc">
          <a:avLst>
            <a:gd name="adj1" fmla="val 5400000"/>
            <a:gd name="adj2" fmla="val 10800000"/>
            <a:gd name="adj3" fmla="val 46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E331C-3EBF-4ED2-90C4-60C8A4446DA6}">
      <dsp:nvSpPr>
        <dsp:cNvPr id="0" name=""/>
        <dsp:cNvSpPr/>
      </dsp:nvSpPr>
      <dsp:spPr>
        <a:xfrm>
          <a:off x="796305" y="498863"/>
          <a:ext cx="3322752" cy="3322752"/>
        </a:xfrm>
        <a:prstGeom prst="blockArc">
          <a:avLst>
            <a:gd name="adj1" fmla="val 0"/>
            <a:gd name="adj2" fmla="val 5400000"/>
            <a:gd name="adj3" fmla="val 46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964F6-2DD0-4312-A3FD-3E9BA065136C}">
      <dsp:nvSpPr>
        <dsp:cNvPr id="0" name=""/>
        <dsp:cNvSpPr/>
      </dsp:nvSpPr>
      <dsp:spPr>
        <a:xfrm>
          <a:off x="796305" y="498863"/>
          <a:ext cx="3322752" cy="3322752"/>
        </a:xfrm>
        <a:prstGeom prst="blockArc">
          <a:avLst>
            <a:gd name="adj1" fmla="val 16200000"/>
            <a:gd name="adj2" fmla="val 0"/>
            <a:gd name="adj3" fmla="val 46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D0BC6-BDF7-4830-8130-97DD919F27C3}">
      <dsp:nvSpPr>
        <dsp:cNvPr id="0" name=""/>
        <dsp:cNvSpPr/>
      </dsp:nvSpPr>
      <dsp:spPr>
        <a:xfrm>
          <a:off x="1692262" y="1394820"/>
          <a:ext cx="1530838" cy="15308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Challenges</a:t>
          </a:r>
        </a:p>
      </dsp:txBody>
      <dsp:txXfrm>
        <a:off x="1916448" y="1619006"/>
        <a:ext cx="1082466" cy="1082466"/>
      </dsp:txXfrm>
    </dsp:sp>
    <dsp:sp modelId="{113A53D6-42C2-4401-9230-BEA3091C642E}">
      <dsp:nvSpPr>
        <dsp:cNvPr id="0" name=""/>
        <dsp:cNvSpPr/>
      </dsp:nvSpPr>
      <dsp:spPr>
        <a:xfrm>
          <a:off x="1750054" y="1647"/>
          <a:ext cx="1415255" cy="1071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ptos" panose="020B0004020202020204" pitchFamily="34" charset="0"/>
            </a:rPr>
            <a:t>Price sensitivity varies across customers</a:t>
          </a:r>
          <a:endParaRPr lang="en-IN" sz="1200" kern="1200" dirty="0">
            <a:latin typeface="Aptos" panose="020B0004020202020204" pitchFamily="34" charset="0"/>
          </a:endParaRPr>
        </a:p>
      </dsp:txBody>
      <dsp:txXfrm>
        <a:off x="1957313" y="158577"/>
        <a:ext cx="1000737" cy="757726"/>
      </dsp:txXfrm>
    </dsp:sp>
    <dsp:sp modelId="{C16FDBE9-CBB2-403A-A911-973272CF2FFB}">
      <dsp:nvSpPr>
        <dsp:cNvPr id="0" name=""/>
        <dsp:cNvSpPr/>
      </dsp:nvSpPr>
      <dsp:spPr>
        <a:xfrm>
          <a:off x="3309833" y="1624446"/>
          <a:ext cx="1541295" cy="1071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Aptos" panose="020B0004020202020204" pitchFamily="34" charset="0"/>
            </a:rPr>
            <a:t>Regional purchasing behavior differs</a:t>
          </a:r>
        </a:p>
      </dsp:txBody>
      <dsp:txXfrm>
        <a:off x="3535550" y="1781376"/>
        <a:ext cx="1089861" cy="757726"/>
      </dsp:txXfrm>
    </dsp:sp>
    <dsp:sp modelId="{33B6752A-31D8-4B17-8C97-EA448D82EA4E}">
      <dsp:nvSpPr>
        <dsp:cNvPr id="0" name=""/>
        <dsp:cNvSpPr/>
      </dsp:nvSpPr>
      <dsp:spPr>
        <a:xfrm>
          <a:off x="1720419" y="3247245"/>
          <a:ext cx="1474524" cy="1071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" panose="020B0004020202020204" pitchFamily="34" charset="0"/>
            </a:rPr>
            <a:t>Premium products may be underpriced</a:t>
          </a:r>
          <a:endParaRPr lang="en-IN" sz="1100" kern="1200" dirty="0">
            <a:latin typeface="Aptos" panose="020B0004020202020204" pitchFamily="34" charset="0"/>
          </a:endParaRPr>
        </a:p>
      </dsp:txBody>
      <dsp:txXfrm>
        <a:off x="1936358" y="3404175"/>
        <a:ext cx="1042646" cy="757726"/>
      </dsp:txXfrm>
    </dsp:sp>
    <dsp:sp modelId="{4A815D16-B0CB-4072-AB2D-F1790AE7E525}">
      <dsp:nvSpPr>
        <dsp:cNvPr id="0" name=""/>
        <dsp:cNvSpPr/>
      </dsp:nvSpPr>
      <dsp:spPr>
        <a:xfrm>
          <a:off x="117423" y="1624446"/>
          <a:ext cx="1434918" cy="1071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ptos" panose="020B0004020202020204" pitchFamily="34" charset="0"/>
            </a:rPr>
            <a:t>Low-performing products may be overpriced </a:t>
          </a:r>
          <a:endParaRPr lang="en-IN" sz="1200" kern="1200" dirty="0">
            <a:latin typeface="Aptos" panose="020B0004020202020204" pitchFamily="34" charset="0"/>
          </a:endParaRPr>
        </a:p>
      </dsp:txBody>
      <dsp:txXfrm>
        <a:off x="327562" y="1781376"/>
        <a:ext cx="1014640" cy="757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905000"/>
          <a:ext cx="54864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318191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349317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787494" y="777239"/>
          <a:ext cx="1868259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Adjust prices based on customer demand patterns.</a:t>
          </a:r>
          <a:endParaRPr lang="en-US" sz="1200" b="0" kern="1200" dirty="0">
            <a:latin typeface="+mn-lt"/>
          </a:endParaRPr>
        </a:p>
      </dsp:txBody>
      <dsp:txXfrm>
        <a:off x="787494" y="777239"/>
        <a:ext cx="1868259" cy="1127760"/>
      </dsp:txXfrm>
    </dsp:sp>
    <dsp:sp modelId="{8E3FB235-DF38-476B-9A0E-B1E583D50944}">
      <dsp:nvSpPr>
        <dsp:cNvPr id="0" name=""/>
        <dsp:cNvSpPr/>
      </dsp:nvSpPr>
      <dsp:spPr>
        <a:xfrm>
          <a:off x="787494" y="380999"/>
          <a:ext cx="1868259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>
              <a:latin typeface="+mn-lt"/>
              <a:ea typeface="+mn-ea"/>
              <a:cs typeface="+mn-cs"/>
            </a:rPr>
            <a:t>Dynamic Pricing</a:t>
          </a:r>
          <a:endParaRPr lang="en-US" sz="1400" b="1" i="0" kern="1200" cap="none" spc="0" baseline="0" dirty="0">
            <a:latin typeface="+mn-lt"/>
            <a:ea typeface="+mn-ea"/>
            <a:cs typeface="+mn-cs"/>
          </a:endParaRPr>
        </a:p>
      </dsp:txBody>
      <dsp:txXfrm>
        <a:off x="787494" y="380999"/>
        <a:ext cx="1868259" cy="396240"/>
      </dsp:txXfrm>
    </dsp:sp>
    <dsp:sp modelId="{9AA05CE5-209F-4AD9-BE2C-2A69F76DA8F4}">
      <dsp:nvSpPr>
        <dsp:cNvPr id="0" name=""/>
        <dsp:cNvSpPr/>
      </dsp:nvSpPr>
      <dsp:spPr>
        <a:xfrm>
          <a:off x="455352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418411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859230" y="309078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890356" y="312191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2344752" y="1905000"/>
          <a:ext cx="2284243" cy="112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Identify premium and high-performing product categories.</a:t>
          </a:r>
          <a:endParaRPr lang="en-US" sz="1200" b="0" kern="1200" dirty="0">
            <a:latin typeface="+mn-lt"/>
          </a:endParaRPr>
        </a:p>
      </dsp:txBody>
      <dsp:txXfrm>
        <a:off x="2344752" y="1905000"/>
        <a:ext cx="2284243" cy="1127759"/>
      </dsp:txXfrm>
    </dsp:sp>
    <dsp:sp modelId="{223C5207-4FA2-4A6C-8F43-20BD55767C99}">
      <dsp:nvSpPr>
        <dsp:cNvPr id="0" name=""/>
        <dsp:cNvSpPr/>
      </dsp:nvSpPr>
      <dsp:spPr>
        <a:xfrm>
          <a:off x="2344752" y="303275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Product Positioning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sp:txBody>
      <dsp:txXfrm>
        <a:off x="2344752" y="3032759"/>
        <a:ext cx="2284243" cy="396240"/>
      </dsp:txXfrm>
    </dsp:sp>
    <dsp:sp modelId="{4FE5EB5D-4CEF-4D0D-9394-0534E61844BE}">
      <dsp:nvSpPr>
        <dsp:cNvPr id="0" name=""/>
        <dsp:cNvSpPr/>
      </dsp:nvSpPr>
      <dsp:spPr>
        <a:xfrm>
          <a:off x="1999324" y="1905000"/>
          <a:ext cx="0" cy="112775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962383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3250043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3281169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3656248" y="777239"/>
          <a:ext cx="1795118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Customize pricing according to regional sales behavior.</a:t>
          </a:r>
          <a:endParaRPr lang="en-US" sz="1200" b="0" kern="1200" dirty="0">
            <a:latin typeface="+mn-lt"/>
          </a:endParaRPr>
        </a:p>
      </dsp:txBody>
      <dsp:txXfrm>
        <a:off x="3656248" y="777239"/>
        <a:ext cx="1795118" cy="1127760"/>
      </dsp:txXfrm>
    </dsp:sp>
    <dsp:sp modelId="{2D6C7916-1130-46A8-833B-A6278CBD2192}">
      <dsp:nvSpPr>
        <dsp:cNvPr id="0" name=""/>
        <dsp:cNvSpPr/>
      </dsp:nvSpPr>
      <dsp:spPr>
        <a:xfrm>
          <a:off x="3656248" y="380999"/>
          <a:ext cx="1795118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 dirty="0"/>
            <a:t>Geographic Optimization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sp:txBody>
      <dsp:txXfrm>
        <a:off x="3656248" y="380999"/>
        <a:ext cx="1795118" cy="396240"/>
      </dsp:txXfrm>
    </dsp:sp>
    <dsp:sp modelId="{4D953791-5C2F-4A75-A8F4-6ED7EAB5E015}">
      <dsp:nvSpPr>
        <dsp:cNvPr id="0" name=""/>
        <dsp:cNvSpPr/>
      </dsp:nvSpPr>
      <dsp:spPr>
        <a:xfrm>
          <a:off x="3390896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3353955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5/22/2026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5/22/2026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29916" y="213068"/>
            <a:ext cx="9413304" cy="2417068"/>
          </a:xfrm>
        </p:spPr>
        <p:txBody>
          <a:bodyPr anchor="b">
            <a:noAutofit/>
          </a:bodyPr>
          <a:lstStyle/>
          <a:p>
            <a:r>
              <a:rPr lang="en-US" dirty="0"/>
              <a:t>          </a:t>
            </a:r>
            <a:br>
              <a:rPr lang="en-US" sz="4400" dirty="0"/>
            </a:br>
            <a:r>
              <a:rPr lang="en-US" sz="4400" dirty="0" err="1">
                <a:latin typeface="Aptos" panose="020B0004020202020204" pitchFamily="34" charset="0"/>
              </a:rPr>
              <a:t>PriceSense</a:t>
            </a:r>
            <a:r>
              <a:rPr lang="en-US" sz="4400" dirty="0"/>
              <a:t>: </a:t>
            </a:r>
            <a:r>
              <a:rPr lang="en-US" sz="4400" dirty="0">
                <a:latin typeface="Aptos" panose="020B0004020202020204" pitchFamily="34" charset="0"/>
              </a:rPr>
              <a:t>SQL-Driven Pricing Intelligence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7828" y="3140968"/>
            <a:ext cx="10945216" cy="3528392"/>
          </a:xfrm>
        </p:spPr>
        <p:txBody>
          <a:bodyPr>
            <a:normAutofit/>
          </a:bodyPr>
          <a:lstStyle/>
          <a:p>
            <a:r>
              <a:rPr lang="en-US" sz="3200" b="1" dirty="0"/>
              <a:t>AI Palette | IIT Guwahati Summer Project 2026</a:t>
            </a:r>
          </a:p>
          <a:p>
            <a:endParaRPr lang="en-US" b="1" dirty="0"/>
          </a:p>
          <a:p>
            <a:r>
              <a:rPr lang="en-US" b="1" dirty="0"/>
              <a:t>Presented by:</a:t>
            </a:r>
          </a:p>
          <a:p>
            <a:r>
              <a:rPr lang="en-US" dirty="0"/>
              <a:t>Name - Kirti Dandre</a:t>
            </a:r>
          </a:p>
          <a:p>
            <a:r>
              <a:rPr lang="en-US" dirty="0"/>
              <a:t>College Name – IES College of Technology Bhopal</a:t>
            </a:r>
          </a:p>
          <a:p>
            <a:r>
              <a:rPr lang="en-US" dirty="0"/>
              <a:t>Branch – CSE AIML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548680"/>
            <a:ext cx="4114800" cy="5832648"/>
          </a:xfrm>
        </p:spPr>
        <p:txBody>
          <a:bodyPr vert="horz" lIns="91416" tIns="45708" rIns="91416" bIns="45708" rtlCol="0" anchor="ctr">
            <a:normAutofit lnSpcReduction="10000"/>
          </a:bodyPr>
          <a:lstStyle/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Introduction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Problem Statement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Dataset Overview &amp; and Data Cleaning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Revenue Analysis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Customer Segment Analysis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Product Pricing Analysis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Geographic Pricing Analysis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Strategic Recommendations</a:t>
            </a:r>
          </a:p>
          <a:p>
            <a:pPr marL="38862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022" y="1196752"/>
            <a:ext cx="5544616" cy="4968552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Aptos" panose="020B0004020202020204" pitchFamily="34" charset="0"/>
              </a:rPr>
              <a:t>Pricing is one of the most critical business decisions for any product-based company.</a:t>
            </a:r>
            <a:br>
              <a:rPr lang="en-US" sz="2000" b="0" dirty="0">
                <a:latin typeface="Aptos" panose="020B0004020202020204" pitchFamily="34" charset="0"/>
              </a:rPr>
            </a:br>
            <a:r>
              <a:rPr lang="en-US" sz="2000" b="0" dirty="0">
                <a:latin typeface="Aptos" panose="020B0004020202020204" pitchFamily="34" charset="0"/>
              </a:rPr>
              <a:t>For a D2C nutrition brand launching high-protein snacks, incorrect pricing can lead to:</a:t>
            </a:r>
            <a:br>
              <a:rPr lang="en-US" sz="2000" b="0" dirty="0">
                <a:latin typeface="Aptos" panose="020B0004020202020204" pitchFamily="34" charset="0"/>
              </a:rPr>
            </a:br>
            <a:br>
              <a:rPr lang="en-US" sz="2000" b="0" dirty="0">
                <a:latin typeface="Aptos" panose="020B0004020202020204" pitchFamily="34" charset="0"/>
              </a:rPr>
            </a:br>
            <a:r>
              <a:rPr lang="en-US" sz="2000" b="0" dirty="0">
                <a:latin typeface="Aptos" panose="020B0004020202020204" pitchFamily="34" charset="0"/>
              </a:rPr>
              <a:t>Reduced customer demand</a:t>
            </a:r>
            <a:br>
              <a:rPr lang="en-US" sz="2000" b="0" dirty="0">
                <a:latin typeface="Aptos" panose="020B0004020202020204" pitchFamily="34" charset="0"/>
              </a:rPr>
            </a:br>
            <a:r>
              <a:rPr lang="en-US" sz="2000" b="0" dirty="0">
                <a:latin typeface="Aptos" panose="020B0004020202020204" pitchFamily="34" charset="0"/>
              </a:rPr>
              <a:t>Lower profit margins Poor competitive positioning </a:t>
            </a:r>
            <a:br>
              <a:rPr lang="en-US" sz="2000" b="0" dirty="0">
                <a:latin typeface="Aptos" panose="020B0004020202020204" pitchFamily="34" charset="0"/>
              </a:rPr>
            </a:br>
            <a:br>
              <a:rPr lang="en-US" sz="2000" b="0" dirty="0">
                <a:latin typeface="Aptos" panose="020B0004020202020204" pitchFamily="34" charset="0"/>
              </a:rPr>
            </a:br>
            <a:br>
              <a:rPr lang="en-US" sz="2000" b="0" dirty="0">
                <a:latin typeface="Aptos" panose="020B0004020202020204" pitchFamily="34" charset="0"/>
              </a:rPr>
            </a:br>
            <a:r>
              <a:rPr lang="en-US" sz="2000" b="0" dirty="0">
                <a:latin typeface="Aptos" panose="020B0004020202020204" pitchFamily="34" charset="0"/>
              </a:rPr>
              <a:t>The </a:t>
            </a:r>
            <a:r>
              <a:rPr lang="en-US" sz="2000" b="0" dirty="0" err="1">
                <a:latin typeface="Aptos" panose="020B0004020202020204" pitchFamily="34" charset="0"/>
              </a:rPr>
              <a:t>PriceSense</a:t>
            </a:r>
            <a:r>
              <a:rPr lang="en-US" sz="2000" b="0" dirty="0">
                <a:latin typeface="Aptos" panose="020B0004020202020204" pitchFamily="34" charset="0"/>
              </a:rPr>
              <a:t> project aims to solve this challenge using SQL-driven pricing intelligence by analyzing transactional, customer, product, and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b="0" dirty="0">
                <a:latin typeface="Aptos" panose="020B0004020202020204" pitchFamily="34" charset="0"/>
              </a:rPr>
              <a:t>geographic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b="0" dirty="0">
                <a:latin typeface="Aptos" panose="020B0004020202020204" pitchFamily="34" charset="0"/>
              </a:rPr>
              <a:t>data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B989A75-8BF6-6DE9-1AB9-424401DB3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828" y="332656"/>
            <a:ext cx="5256584" cy="100811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INTRODUCTION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40B158F-0A8C-8EF8-8DFE-0C1124002C7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r="4548"/>
          <a:stretch>
            <a:fillRect/>
          </a:stretch>
        </p:blipFill>
        <p:spPr>
          <a:xfrm>
            <a:off x="7030516" y="2084832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-171400"/>
            <a:ext cx="6096744" cy="1512168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PROBLEM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1"/>
                </a:solidFill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7908" y="794232"/>
            <a:ext cx="8100392" cy="6480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Businesses often rely on intuition rather than data when deciding product prices.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pPr marL="4572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Objective: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To design a SQL-based pricing intelligence system for identifying  optimal pricing strategies.</a:t>
            </a:r>
          </a:p>
          <a:p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44E9DD0-5489-CB46-8F1E-3EAC567C88C5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660119241"/>
              </p:ext>
            </p:extLst>
          </p:nvPr>
        </p:nvGraphicFramePr>
        <p:xfrm>
          <a:off x="4150196" y="1484784"/>
          <a:ext cx="4968552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332656"/>
            <a:ext cx="6096744" cy="936104"/>
          </a:xfrm>
        </p:spPr>
        <p:txBody>
          <a:bodyPr anchor="t">
            <a:normAutofit fontScale="90000"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Aptos" panose="020B0004020202020204" pitchFamily="34" charset="0"/>
              </a:rPr>
              <a:t>DATASET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1"/>
                </a:solidFill>
                <a:latin typeface="Aptos" panose="020B0004020202020204" pitchFamily="34" charset="0"/>
              </a:rPr>
              <a:t>&amp;  DATA CLEANING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7944525-D91E-503D-AA6B-F4899F451EA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37337" y="2996952"/>
            <a:ext cx="5562600" cy="3395464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Data Preprocessing Included</a:t>
            </a:r>
          </a:p>
          <a:p>
            <a:r>
              <a:rPr lang="en-US" dirty="0"/>
              <a:t>Removing negative price entries </a:t>
            </a:r>
          </a:p>
          <a:p>
            <a:r>
              <a:rPr lang="en-US" dirty="0"/>
              <a:t>Removing invalid quantities </a:t>
            </a:r>
          </a:p>
          <a:p>
            <a:r>
              <a:rPr lang="en-US" dirty="0"/>
              <a:t>Eliminating duplicate transactions</a:t>
            </a:r>
          </a:p>
          <a:p>
            <a:endParaRPr lang="en-IN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66FA96A-CEA8-D182-65E9-4D8602373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340768"/>
            <a:ext cx="4572000" cy="4907632"/>
          </a:xfrm>
        </p:spPr>
        <p:txBody>
          <a:bodyPr/>
          <a:lstStyle/>
          <a:p>
            <a:pPr marL="45720" indent="0">
              <a:buNone/>
            </a:pPr>
            <a:r>
              <a:rPr lang="en-IN" sz="2000" dirty="0">
                <a:latin typeface="Aptos" panose="020B0004020202020204" pitchFamily="34" charset="0"/>
              </a:rPr>
              <a:t>This project uses four structured datasets: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Transactions</a:t>
            </a:r>
            <a:r>
              <a:rPr lang="en-IN" sz="2000" dirty="0">
                <a:latin typeface="Aptos" panose="020B0004020202020204" pitchFamily="34" charset="0"/>
              </a:rPr>
              <a:t> → purchase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Consumer Insights </a:t>
            </a:r>
            <a:r>
              <a:rPr lang="en-IN" sz="2000" dirty="0">
                <a:latin typeface="Aptos" panose="020B0004020202020204" pitchFamily="34" charset="0"/>
              </a:rPr>
              <a:t>→ customer demographic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Product Metadata </a:t>
            </a:r>
            <a:r>
              <a:rPr lang="en-IN" sz="2000" dirty="0">
                <a:latin typeface="Aptos" panose="020B0004020202020204" pitchFamily="34" charset="0"/>
              </a:rPr>
              <a:t>→ product details and categories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Geography Occasion </a:t>
            </a:r>
            <a:r>
              <a:rPr lang="en-IN" sz="2000" dirty="0">
                <a:latin typeface="Aptos" panose="020B0004020202020204" pitchFamily="34" charset="0"/>
              </a:rPr>
              <a:t>→ regional and occasion-based purchase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875184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Revenue Analysis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804" y="2276872"/>
            <a:ext cx="6192688" cy="2468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Revenue analysis was performed to measure the total sales generated from customer purchases. Based on the cleaned transaction dataset, the total revenue generated was ₹ 33,64,272.57, indicating overall business performance and sales strength.</a:t>
            </a:r>
            <a:endParaRPr lang="en-US" sz="2000" b="1" dirty="0">
              <a:latin typeface="Aptos" panose="020B0004020202020204" pitchFamily="34" charset="0"/>
            </a:endParaRPr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61EE46A-6917-BD6F-5BA5-14E90727A1A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461"/>
          <a:stretch>
            <a:fillRect/>
          </a:stretch>
        </p:blipFill>
        <p:spPr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860" y="116632"/>
            <a:ext cx="8424936" cy="936104"/>
          </a:xfrm>
        </p:spPr>
        <p:txBody>
          <a:bodyPr anchor="b"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Aptos" panose="020B0004020202020204" pitchFamily="34" charset="0"/>
              </a:rPr>
              <a:t>CUSTOMER SEGMENT ANALYSIS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AF18FA1-4112-C442-E283-B1E8CE67B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81844" y="1700808"/>
            <a:ext cx="4572000" cy="4464496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90EF9-DCEC-26DC-8D30-EEC411DBEC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06380" y="2132856"/>
            <a:ext cx="6264696" cy="3672408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Customer segment analysis helps identify purchasing behavior across different income groups. The analysis shows that medium-income customers contributed the highest purchasing activity, making them the most valuable customer segment. This insight helps improve targeted marketing and pricing strategies</a:t>
            </a:r>
            <a:r>
              <a:rPr lang="en-US" dirty="0"/>
              <a:t>.</a:t>
            </a:r>
          </a:p>
          <a:p>
            <a:r>
              <a:rPr lang="en-US" b="1" dirty="0"/>
              <a:t>Key Insight</a:t>
            </a:r>
            <a:r>
              <a:rPr lang="en-US" dirty="0">
                <a:latin typeface="Aptos" panose="020B0004020202020204" pitchFamily="34" charset="0"/>
              </a:rPr>
              <a:t>: Medium-income customers showed the highest engagement and purchase volume.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BDF4-8DBF-E018-EE02-4F4CC5FD1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514" y="476672"/>
            <a:ext cx="5808712" cy="86409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  <a:latin typeface="Aptos" panose="020B0004020202020204" pitchFamily="34" charset="0"/>
              </a:rPr>
              <a:t>PRODUCT PRICING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0BEEF3-3742-A991-F085-9150E3B723FA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670476" y="1340768"/>
            <a:ext cx="4911725" cy="393788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E5E1F8-B4BC-B9EE-D409-94C71C1A87F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258974" y="1268760"/>
            <a:ext cx="4911725" cy="511256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Product pricing analysis compares average pricing across product categories to identify high-performing products. The analysis shows that some categories have higher average prices along with strong sales volume, indicating premium product demand and customer preference</a:t>
            </a:r>
            <a:r>
              <a:rPr lang="en-US" sz="2000" dirty="0"/>
              <a:t>.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Key Insight</a:t>
            </a:r>
            <a:r>
              <a:rPr lang="en-US" sz="2000" dirty="0">
                <a:latin typeface="Aptos" panose="020B0004020202020204" pitchFamily="34" charset="0"/>
              </a:rPr>
              <a:t>: Premium-priced product categories generated strong sales performance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89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BA4E2B1-7C6F-384F-A505-405D67A8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176864" cy="80317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  <a:latin typeface="Aptos" panose="020B0004020202020204" pitchFamily="34" charset="0"/>
              </a:rPr>
              <a:t>GEOGRAPHIC PRICING ANALYSIS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695947D-97EF-9710-577B-4E2375717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3" y="1772816"/>
            <a:ext cx="5122861" cy="4475584"/>
          </a:xfrm>
        </p:spPr>
        <p:txBody>
          <a:bodyPr/>
          <a:lstStyle/>
          <a:p>
            <a:r>
              <a:rPr lang="en-US" b="0" dirty="0">
                <a:latin typeface="Aptos" panose="020B0004020202020204" pitchFamily="34" charset="0"/>
              </a:rPr>
              <a:t>Geographic pricing analysis helps understand pricing performance across different locations. The analysis shows variation in average product prices between states, helping identify high-value markets and opportunities for region-specific pricing strategies.</a:t>
            </a:r>
          </a:p>
          <a:p>
            <a:r>
              <a:rPr lang="en-US" dirty="0">
                <a:latin typeface="Aptos" panose="020B0004020202020204" pitchFamily="34" charset="0"/>
              </a:rPr>
              <a:t>Key Insight:</a:t>
            </a:r>
            <a:br>
              <a:rPr lang="en-US" b="0" dirty="0">
                <a:latin typeface="Aptos" panose="020B0004020202020204" pitchFamily="34" charset="0"/>
              </a:rPr>
            </a:br>
            <a:r>
              <a:rPr lang="en-US" b="0" dirty="0">
                <a:latin typeface="Aptos" panose="020B0004020202020204" pitchFamily="34" charset="0"/>
              </a:rPr>
              <a:t>Some states showed higher average pricing, indicating better pricing opportunities in those regions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9986F3-2ABC-35A7-AC62-85F04D9E79E8}"/>
              </a:ext>
            </a:extLst>
          </p:cNvPr>
          <p:cNvPicPr>
            <a:picLocks noGrp="1" noChangeAspect="1"/>
          </p:cNvPicPr>
          <p:nvPr>
            <p:ph type="tbl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08712" y="2852936"/>
            <a:ext cx="5559425" cy="339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0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274" y="404664"/>
            <a:ext cx="7375426" cy="79208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STRATEGIC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556792"/>
            <a:ext cx="4572000" cy="4691608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sz="2200" dirty="0">
                <a:latin typeface="Aptos" panose="020B0004020202020204" pitchFamily="34" charset="0"/>
              </a:rPr>
              <a:t>Based on analysis finding, the following recommendations are proposed: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ptos" panose="020B0004020202020204" pitchFamily="34" charset="0"/>
              </a:rPr>
              <a:t>Implement dynamic pricing strategies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ptos" panose="020B0004020202020204" pitchFamily="34" charset="0"/>
              </a:rPr>
              <a:t>Target medium-income customer segments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ptos" panose="020B0004020202020204" pitchFamily="34" charset="0"/>
              </a:rPr>
              <a:t>Focus on premium-performing product categories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ptos" panose="020B0004020202020204" pitchFamily="34" charset="0"/>
              </a:rPr>
              <a:t>Apply region-specific pricing optimization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ptos" panose="020B0004020202020204" pitchFamily="34" charset="0"/>
              </a:rPr>
              <a:t>Strengthen high-demand market positioning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9" name="Diagram 2" descr="Drop pin timeline SmartArt graphic&#10;">
            <a:extLst>
              <a:ext uri="{FF2B5EF4-FFF2-40B4-BE49-F238E27FC236}">
                <a16:creationId xmlns:a16="http://schemas.microsoft.com/office/drawing/2014/main" id="{3FBEBE7D-0B6F-4C93-0F2F-3EBC3855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2130718"/>
              </p:ext>
            </p:extLst>
          </p:nvPr>
        </p:nvGraphicFramePr>
        <p:xfrm>
          <a:off x="6130924" y="2057400"/>
          <a:ext cx="5486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731168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49968-EAA7-4150-2391-B52ECB108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628800"/>
            <a:ext cx="8527554" cy="49244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PriceSense demonstrates how SQL analytics can transform raw transactional data into valuable pricing intelligence.</a:t>
            </a:r>
          </a:p>
          <a:p>
            <a:r>
              <a:rPr lang="en-IN" sz="2000" dirty="0">
                <a:latin typeface="Aptos" panose="020B0004020202020204" pitchFamily="34" charset="0"/>
              </a:rPr>
              <a:t> This project enables businesses to:</a:t>
            </a:r>
          </a:p>
          <a:p>
            <a:pPr marL="38862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Aptos" panose="020B0004020202020204" pitchFamily="34" charset="0"/>
              </a:rPr>
              <a:t>Improve pricing decisions</a:t>
            </a:r>
          </a:p>
          <a:p>
            <a:pPr marL="38862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Aptos" panose="020B0004020202020204" pitchFamily="34" charset="0"/>
              </a:rPr>
              <a:t> Optimize revenue growth</a:t>
            </a:r>
          </a:p>
          <a:p>
            <a:pPr marL="38862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Aptos" panose="020B0004020202020204" pitchFamily="34" charset="0"/>
              </a:rPr>
              <a:t> Understand customer behavior</a:t>
            </a:r>
          </a:p>
          <a:p>
            <a:pPr marL="38862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Aptos" panose="020B0004020202020204" pitchFamily="34" charset="0"/>
              </a:rPr>
              <a:t>Support data-driven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180" y="3212976"/>
            <a:ext cx="4968552" cy="136815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{EA49AEB5-EDB3-4B94-8C34-E1632C14EE9C}TFf1460845-8e07-4b92-9183-e15be13008a218dbe6a5_win32-cc1095971745</Template>
  <TotalTime>477</TotalTime>
  <Words>539</Words>
  <Application>Microsoft Office PowerPoint</Application>
  <PresentationFormat>Custom</PresentationFormat>
  <Paragraphs>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Century Gothic</vt:lpstr>
      <vt:lpstr>Palatino Linotype</vt:lpstr>
      <vt:lpstr>Wingdings</vt:lpstr>
      <vt:lpstr>Custom</vt:lpstr>
      <vt:lpstr>           PriceSense: SQL-Driven Pricing Intelligence Framework</vt:lpstr>
      <vt:lpstr>Agenda</vt:lpstr>
      <vt:lpstr>Pricing is one of the most critical business decisions for any product-based company. For a D2C nutrition brand launching high-protein snacks, incorrect pricing can lead to:  Reduced customer demand Lower profit margins Poor competitive positioning    The PriceSense project aims to solve this challenge using SQL-driven pricing intelligence by analyzing transactional, customer, product, and geographic  data.</vt:lpstr>
      <vt:lpstr>PROBLEM STATEMENT</vt:lpstr>
      <vt:lpstr>DATASET &amp;  DATA CLEANING</vt:lpstr>
      <vt:lpstr>Revenue Analysis </vt:lpstr>
      <vt:lpstr>CUSTOMER SEGMENT ANALYSIS</vt:lpstr>
      <vt:lpstr>PRODUCT PRICING ANALYSIS</vt:lpstr>
      <vt:lpstr>GEOGRAPHIC PRICING ANALYSIS</vt:lpstr>
      <vt:lpstr>STRATEGIC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DANDRE</dc:creator>
  <cp:lastModifiedBy>KIRTI DANDRE</cp:lastModifiedBy>
  <cp:revision>2</cp:revision>
  <dcterms:created xsi:type="dcterms:W3CDTF">2026-05-17T15:57:05Z</dcterms:created>
  <dcterms:modified xsi:type="dcterms:W3CDTF">2026-05-22T13:26:22Z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